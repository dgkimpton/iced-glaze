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5A3E-4B1C-EAA3-5AD6-B2BA9ABD4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5BA4C-AB68-ED1C-6156-43FEDDD5E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4FE6-1260-AB87-918E-8FB443E47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776D9-D95B-5A32-DFE4-720DFFF7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8B6E4-C8B5-FF9F-CA55-B5DC889A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8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17F7-481F-54ED-6EFD-29882AD5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B7DA-1C4E-EC94-F133-F7D55EC9B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9D6F-61CC-3288-2401-F4363D74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3BB7C-007C-EFAD-C900-2365FDF0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3323A-91CA-2E54-2F1F-7AF46887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401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3050-EA46-1AD0-0957-4BCC7F1F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5BD00-B7E6-C7B2-2257-AC3DB67D8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3368-E1CB-AC4D-6713-C83B9803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A8EC7-FCB3-293A-DCEF-54D2C06D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C047C-1668-8359-C9B8-FB76201C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645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63F9-9E56-BEE6-6F2E-4986F720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84E4-6BFD-981D-789D-694FB37BA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D46B7-E589-9E17-89AA-F1DD6C354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84AD7-038D-3391-6F42-5FCF4AAA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D76BF-BC3C-5D58-860F-5BB4F24D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5D9AD-FEA2-110E-539C-1AFB5303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3823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97BD-9DD4-52C7-88FB-D00ED161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51B2D-AB5F-070E-18AE-72E02F397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B23EF-833F-D110-BD1F-567FA2CD4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74E26-287C-6642-2C44-D5F50C7DD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28CC3-C590-2461-B520-401DF7C3B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39E32-AD75-1777-6A4F-9D9CE621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DB41E-9546-F399-988C-0AC998F2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1F2CD-880D-3C6B-204C-9BE1FAC6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337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1535-44E1-2B32-1FB1-E23E6BC9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1A411-F93C-5BDC-9787-57CBDEFE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A8C3D-66ED-62BB-971C-750F7F18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CDE5E-2841-E853-C500-BC465218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684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F124E-9429-4323-4386-A7958DB5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2F483-3F4E-6ADF-AC4D-A3CDB508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AFA13-1A4D-A99A-E51A-963F69EB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299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1E95-6B14-73DC-72FB-FCEC88A66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F75D-9874-23DA-BE27-5E7D0DE1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F7F94-7042-C34A-E967-E8E773FC4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5AE48-093A-3E1C-A452-C685C860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F3DEA-FA5C-A7F2-DC81-4585361C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76B74-5AE5-FA4E-E4DD-5BC9893D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221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E00E-88C1-BE80-0686-1E75AD99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A52E7-A166-FB63-CE69-3D68AA936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C9D34-E724-54D3-A297-D81B75823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0501B-3036-65F1-12A0-014AA018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65982-9AF3-9A09-EBA4-87765601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8EF88-3A28-BBCB-5D64-58EEF79B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7401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D749-122F-18ED-527A-8D7CFEE0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305D9-896C-E2B9-D3F2-12B28A328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F00C7-C852-680B-D0D2-3571EEF6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5143E-3113-0E6F-2E05-DD6F5292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7F561-6D7E-2DFC-8B2A-6C34F843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889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2BB06-E2DF-A38F-2CC0-926D0ED6E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866BD-60A5-463A-992C-F43E0525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1598E-465E-0687-6926-A7F7B141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81BD-6C77-BB33-CB6B-96BBC361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5AB6E-19AC-14BA-0DD9-9D10D863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9097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D41C4-6A00-BA01-8673-4EC19100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0278D-5F58-7861-A44E-6455908A0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6FAB9-AB19-2EF4-1E2D-39B708FBB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C02DA-B997-4D13-9CA1-359D1F516627}" type="datetimeFigureOut">
              <a:rPr lang="en-NL" smtClean="0"/>
              <a:t>2026-04-04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43643-9047-4906-D6D7-50BAEB59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4893-EC0A-D1DF-1312-05FDE2DD7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324B4-6954-4D57-8EF5-C9CB5706864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475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CA1572-669D-7F0D-FA5D-15D2F81F54B1}"/>
              </a:ext>
            </a:extLst>
          </p:cNvPr>
          <p:cNvSpPr/>
          <p:nvPr/>
        </p:nvSpPr>
        <p:spPr>
          <a:xfrm>
            <a:off x="776393" y="1592579"/>
            <a:ext cx="838200" cy="279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Button</a:t>
            </a:r>
            <a:endParaRPr lang="en-NL" sz="1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C91E95-0B27-D9FB-FB65-1052CA7F1A76}"/>
              </a:ext>
            </a:extLst>
          </p:cNvPr>
          <p:cNvSpPr/>
          <p:nvPr/>
        </p:nvSpPr>
        <p:spPr>
          <a:xfrm>
            <a:off x="877993" y="2539152"/>
            <a:ext cx="635000" cy="5778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Check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1E01D-598C-F2D6-75B4-4077E74F4158}"/>
              </a:ext>
            </a:extLst>
          </p:cNvPr>
          <p:cNvSpPr/>
          <p:nvPr/>
        </p:nvSpPr>
        <p:spPr>
          <a:xfrm>
            <a:off x="1843193" y="1592577"/>
            <a:ext cx="4252807" cy="73744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Button</a:t>
            </a:r>
          </a:p>
          <a:p>
            <a:r>
              <a:rPr lang="en-US" sz="800" dirty="0">
                <a:solidFill>
                  <a:schemeClr val="tx1"/>
                </a:solidFill>
              </a:rPr>
              <a:t>  Press to act – sends a single message on press.</a:t>
            </a:r>
          </a:p>
          <a:p>
            <a:r>
              <a:rPr lang="en-US" sz="800" dirty="0">
                <a:solidFill>
                  <a:schemeClr val="tx1"/>
                </a:solidFill>
              </a:rPr>
              <a:t>  Visual States: Disabled, Active/Normal, Hovered, Pressed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Can also be used as a Link with different visual formatting (e.g. underline, link arrow)</a:t>
            </a:r>
            <a:endParaRPr lang="en-NL" sz="8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A3E43-39FB-503A-54A5-A59893C0E3D2}"/>
              </a:ext>
            </a:extLst>
          </p:cNvPr>
          <p:cNvSpPr/>
          <p:nvPr/>
        </p:nvSpPr>
        <p:spPr>
          <a:xfrm>
            <a:off x="1843193" y="2539152"/>
            <a:ext cx="4252807" cy="889848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Check</a:t>
            </a:r>
          </a:p>
          <a:p>
            <a:r>
              <a:rPr lang="en-US" sz="800" dirty="0">
                <a:solidFill>
                  <a:schemeClr val="tx1"/>
                </a:solidFill>
              </a:rPr>
              <a:t>Two states On/Off – sends a message with an on/off parameter when it changes</a:t>
            </a:r>
          </a:p>
          <a:p>
            <a:r>
              <a:rPr lang="en-US" sz="800" dirty="0">
                <a:solidFill>
                  <a:schemeClr val="tx1"/>
                </a:solidFill>
              </a:rPr>
              <a:t>Visual States: Disabled, Active(On/Off), Hovered(On/Off), Pressed(On/Off)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User can group into radio style actions if needed.</a:t>
            </a:r>
          </a:p>
          <a:p>
            <a:r>
              <a:rPr lang="en-US" sz="800" dirty="0">
                <a:solidFill>
                  <a:schemeClr val="tx1"/>
                </a:solidFill>
              </a:rPr>
              <a:t>Can be used to implement toggle buttons, menus, check boxes, and radio buttons</a:t>
            </a:r>
            <a:endParaRPr lang="en-NL" sz="800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7DA8C3-70BD-46BB-CC95-9F32A7031367}"/>
              </a:ext>
            </a:extLst>
          </p:cNvPr>
          <p:cNvGrpSpPr/>
          <p:nvPr/>
        </p:nvGrpSpPr>
        <p:grpSpPr>
          <a:xfrm>
            <a:off x="514773" y="3856566"/>
            <a:ext cx="1219200" cy="577850"/>
            <a:chOff x="690880" y="2676313"/>
            <a:chExt cx="1219200" cy="5778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231A426-6180-17F3-F155-EA87E4B57B9F}"/>
                </a:ext>
              </a:extLst>
            </p:cNvPr>
            <p:cNvSpPr/>
            <p:nvPr/>
          </p:nvSpPr>
          <p:spPr>
            <a:xfrm>
              <a:off x="690880" y="2763520"/>
              <a:ext cx="1219200" cy="372533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403AE6A-6B32-6657-B3F8-A635AA4C1570}"/>
                </a:ext>
              </a:extLst>
            </p:cNvPr>
            <p:cNvSpPr/>
            <p:nvPr/>
          </p:nvSpPr>
          <p:spPr>
            <a:xfrm>
              <a:off x="1216660" y="2676313"/>
              <a:ext cx="635000" cy="57785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Toggle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302D6FB-9454-541C-12F2-8A39F552605E}"/>
              </a:ext>
            </a:extLst>
          </p:cNvPr>
          <p:cNvSpPr/>
          <p:nvPr/>
        </p:nvSpPr>
        <p:spPr>
          <a:xfrm>
            <a:off x="1843193" y="3780895"/>
            <a:ext cx="4252807" cy="72919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Toggle</a:t>
            </a:r>
          </a:p>
          <a:p>
            <a:r>
              <a:rPr lang="en-US" sz="800" dirty="0">
                <a:solidFill>
                  <a:schemeClr val="tx1"/>
                </a:solidFill>
              </a:rPr>
              <a:t>Two states On/Off – sends a message with an on/off parameter when it changes</a:t>
            </a:r>
          </a:p>
          <a:p>
            <a:r>
              <a:rPr lang="en-US" sz="800" dirty="0">
                <a:solidFill>
                  <a:schemeClr val="tx1"/>
                </a:solidFill>
              </a:rPr>
              <a:t>Visual States: Disabled, Active(On/Off), Hovered(On/Off), Pressed(On/Off)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Strictly an individual item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8146C4-FBA9-5A77-A65D-876E4DDF49C5}"/>
              </a:ext>
            </a:extLst>
          </p:cNvPr>
          <p:cNvSpPr/>
          <p:nvPr/>
        </p:nvSpPr>
        <p:spPr>
          <a:xfrm>
            <a:off x="674793" y="4950460"/>
            <a:ext cx="838200" cy="279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dropdown</a:t>
            </a:r>
            <a:endParaRPr lang="en-NL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6C4B4E-D1C8-C8E3-1722-77E41F342468}"/>
              </a:ext>
            </a:extLst>
          </p:cNvPr>
          <p:cNvSpPr/>
          <p:nvPr/>
        </p:nvSpPr>
        <p:spPr>
          <a:xfrm>
            <a:off x="1512993" y="4950460"/>
            <a:ext cx="220980" cy="279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D38EEF-687D-DC99-A792-A779998DCD03}"/>
              </a:ext>
            </a:extLst>
          </p:cNvPr>
          <p:cNvSpPr/>
          <p:nvPr/>
        </p:nvSpPr>
        <p:spPr>
          <a:xfrm>
            <a:off x="1843193" y="4800282"/>
            <a:ext cx="4252807" cy="1194118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Dropdown</a:t>
            </a:r>
          </a:p>
          <a:p>
            <a:r>
              <a:rPr lang="en-US" sz="800" dirty="0">
                <a:solidFill>
                  <a:schemeClr val="tx1"/>
                </a:solidFill>
              </a:rPr>
              <a:t>Selects one item from a group of items and hides the unselected items.</a:t>
            </a:r>
          </a:p>
          <a:p>
            <a:r>
              <a:rPr lang="en-US" sz="800" dirty="0">
                <a:solidFill>
                  <a:schemeClr val="tx1"/>
                </a:solidFill>
              </a:rPr>
              <a:t>Visual States: Disabled, Active(Open/Closed), Hovered(Open/Closed), Pressed(Open/Closed)</a:t>
            </a:r>
          </a:p>
          <a:p>
            <a:r>
              <a:rPr lang="en-US" sz="800" dirty="0">
                <a:solidFill>
                  <a:schemeClr val="tx1"/>
                </a:solidFill>
              </a:rPr>
              <a:t>Child Visuals: 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Different rendering of item in box from item in list.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TODO: Visual states of dropdown list items</a:t>
            </a:r>
          </a:p>
          <a:p>
            <a:r>
              <a:rPr lang="en-US" sz="800" dirty="0">
                <a:solidFill>
                  <a:schemeClr val="tx1"/>
                </a:solidFill>
              </a:rPr>
              <a:t>TODO: Combo variant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97D595-0A64-1256-408D-CBF93BBAA2CA}"/>
              </a:ext>
            </a:extLst>
          </p:cNvPr>
          <p:cNvSpPr/>
          <p:nvPr/>
        </p:nvSpPr>
        <p:spPr>
          <a:xfrm>
            <a:off x="776393" y="1058649"/>
            <a:ext cx="838200" cy="279400"/>
          </a:xfrm>
          <a:prstGeom prst="round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Input</a:t>
            </a:r>
            <a:endParaRPr lang="en-NL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CB2670-B74A-FE70-65E2-5A5D704A4E36}"/>
              </a:ext>
            </a:extLst>
          </p:cNvPr>
          <p:cNvSpPr/>
          <p:nvPr/>
        </p:nvSpPr>
        <p:spPr>
          <a:xfrm>
            <a:off x="1843193" y="1058648"/>
            <a:ext cx="4252807" cy="498264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 err="1">
                <a:solidFill>
                  <a:schemeClr val="tx1"/>
                </a:solidFill>
              </a:rPr>
              <a:t>InputBox</a:t>
            </a:r>
            <a:endParaRPr lang="en-US" sz="800" b="1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  Allows for editing of a text string</a:t>
            </a:r>
          </a:p>
          <a:p>
            <a:r>
              <a:rPr lang="en-US" sz="800" dirty="0">
                <a:solidFill>
                  <a:schemeClr val="tx1"/>
                </a:solidFill>
              </a:rPr>
              <a:t>  Visual States: Disabled, Active/Normal, Hovered, Editing</a:t>
            </a:r>
            <a:endParaRPr lang="en-NL" sz="8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C209EB-7DCB-B94C-74A1-77666BD6430B}"/>
              </a:ext>
            </a:extLst>
          </p:cNvPr>
          <p:cNvSpPr/>
          <p:nvPr/>
        </p:nvSpPr>
        <p:spPr>
          <a:xfrm>
            <a:off x="776393" y="439418"/>
            <a:ext cx="838200" cy="279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Text</a:t>
            </a:r>
            <a:endParaRPr lang="en-NL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D01B08-2D48-9A29-AA93-96B8719E7478}"/>
              </a:ext>
            </a:extLst>
          </p:cNvPr>
          <p:cNvSpPr/>
          <p:nvPr/>
        </p:nvSpPr>
        <p:spPr>
          <a:xfrm>
            <a:off x="1843193" y="439417"/>
            <a:ext cx="4252807" cy="498264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Label</a:t>
            </a:r>
          </a:p>
          <a:p>
            <a:r>
              <a:rPr lang="en-US" sz="800" dirty="0">
                <a:solidFill>
                  <a:schemeClr val="tx1"/>
                </a:solidFill>
              </a:rPr>
              <a:t>  Presents a text string</a:t>
            </a:r>
          </a:p>
          <a:p>
            <a:r>
              <a:rPr lang="en-US" sz="800" dirty="0">
                <a:solidFill>
                  <a:schemeClr val="tx1"/>
                </a:solidFill>
              </a:rPr>
              <a:t>  Visual States: Disabled, Active/Normal</a:t>
            </a:r>
            <a:endParaRPr lang="en-NL" sz="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0E20DB-807B-6B40-3CD3-0C010B1E540D}"/>
              </a:ext>
            </a:extLst>
          </p:cNvPr>
          <p:cNvSpPr/>
          <p:nvPr/>
        </p:nvSpPr>
        <p:spPr>
          <a:xfrm>
            <a:off x="8812107" y="1205229"/>
            <a:ext cx="3007360" cy="8606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accent5">
                    <a:lumMod val="50000"/>
                  </a:schemeClr>
                </a:solidFill>
              </a:rPr>
              <a:t>Notes</a:t>
            </a:r>
          </a:p>
          <a:p>
            <a:r>
              <a:rPr lang="en-US" sz="800" dirty="0">
                <a:solidFill>
                  <a:schemeClr val="accent5">
                    <a:lumMod val="50000"/>
                  </a:schemeClr>
                </a:solidFill>
              </a:rPr>
              <a:t>Hover should also be an exposable message so that we can do things like show help text on the status bar.</a:t>
            </a:r>
            <a:endParaRPr lang="en-NL" sz="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A72E1-6884-87BC-D1C0-D8E61EBCD36B}"/>
              </a:ext>
            </a:extLst>
          </p:cNvPr>
          <p:cNvSpPr/>
          <p:nvPr/>
        </p:nvSpPr>
        <p:spPr>
          <a:xfrm>
            <a:off x="8713894" y="2984075"/>
            <a:ext cx="3007360" cy="17369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36000" tIns="36000" rIns="36000" bIns="36000" rtlCol="0" anchor="t"/>
          <a:lstStyle/>
          <a:p>
            <a:r>
              <a:rPr lang="en-US" sz="800" b="1" dirty="0">
                <a:solidFill>
                  <a:schemeClr val="accent2">
                    <a:lumMod val="50000"/>
                  </a:schemeClr>
                </a:solidFill>
              </a:rPr>
              <a:t>Other Components</a:t>
            </a:r>
          </a:p>
          <a:p>
            <a:r>
              <a:rPr lang="en-US" sz="800" b="1" dirty="0">
                <a:solidFill>
                  <a:schemeClr val="accent2">
                    <a:lumMod val="50000"/>
                  </a:schemeClr>
                </a:solidFill>
              </a:rPr>
              <a:t>Some of these can be composed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Trees?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Menus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Tabs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Accordions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Tables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Tooltips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Pick Lists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Radio Buttons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Toggle Buttons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Slider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Scrollbar</a:t>
            </a:r>
          </a:p>
          <a:p>
            <a:r>
              <a:rPr lang="en-US" sz="800">
                <a:solidFill>
                  <a:schemeClr val="accent2">
                    <a:lumMod val="50000"/>
                  </a:schemeClr>
                </a:solidFill>
              </a:rPr>
              <a:t>Scroll panel</a:t>
            </a:r>
            <a:endParaRPr lang="en-US" sz="8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Dialogs</a:t>
            </a:r>
          </a:p>
          <a:p>
            <a:endParaRPr lang="en-NL" sz="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8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317</Words>
  <Application>Microsoft Office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Kimpton</dc:creator>
  <cp:lastModifiedBy>Duncan Kimpton</cp:lastModifiedBy>
  <cp:revision>14</cp:revision>
  <dcterms:created xsi:type="dcterms:W3CDTF">2026-04-04T12:18:29Z</dcterms:created>
  <dcterms:modified xsi:type="dcterms:W3CDTF">2026-04-04T13:26:45Z</dcterms:modified>
</cp:coreProperties>
</file>